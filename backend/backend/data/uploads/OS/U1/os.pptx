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pFb3Oz+fRFhrTmRJJhE5+2Y4q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process is the unit of work in a system.</a:t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Ready queue contains PCBs of processes</a:t>
            </a:r>
            <a:endParaRPr/>
          </a:p>
        </p:txBody>
      </p:sp>
      <p:sp>
        <p:nvSpPr>
          <p:cNvPr id="195" name="Google Shape;1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Zombie process – if parent fails to call wait(), zombie will be left in the process table, the kill command has no effect on a zombie process.</a:t>
            </a:r>
            <a:endParaRPr/>
          </a:p>
        </p:txBody>
      </p:sp>
      <p:sp>
        <p:nvSpPr>
          <p:cNvPr id="301" name="Google Shape;30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781916" y="2432547"/>
            <a:ext cx="749721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OPERATING SYSTEMS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UE24CS242B</a:t>
            </a:r>
            <a:endParaRPr b="1" sz="40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781916" y="3586235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Process Management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Pavan A C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3" name="Google Shape;93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5" name="Google Shape;95;p1"/>
          <p:cNvCxnSpPr/>
          <p:nvPr/>
        </p:nvCxnSpPr>
        <p:spPr>
          <a:xfrm flipH="1" rot="10800000">
            <a:off x="4781916" y="4297300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6" name="Google Shape;96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7" name="Google Shape;97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9029" y="1981774"/>
            <a:ext cx="1894563" cy="350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Slides Credits for all the PPTs of this course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2"/>
          <p:cNvSpPr/>
          <p:nvPr/>
        </p:nvSpPr>
        <p:spPr>
          <a:xfrm>
            <a:off x="253954" y="1697888"/>
            <a:ext cx="8407446" cy="4801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slides/diagrams in this course are an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adaptation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combination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enhancement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of material from the following resources and persons: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Slides of Operating System Concepts, Abraham Silberschatz, Peter Baer Galvin, Greg Gagne -  9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edition 2013 and some slides from 10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edition 2018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conceptual text and diagram from Operating Systems - Internals and Design Principles, William Stallings, 9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edition 2018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presentation transcripts from A. Frank – P. Weisberg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conceptual text from Operating Systems: Three Easy Pieces, Remzi Arpaci-Dusseau, Andrea Arpaci Dusseau 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598883" y="1849772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Process Concept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Pavan A C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19" name="Google Shape;119;p3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1" name="Google Shape;121;p3"/>
          <p:cNvCxnSpPr/>
          <p:nvPr/>
        </p:nvCxnSpPr>
        <p:spPr>
          <a:xfrm flipH="1" rot="10800000">
            <a:off x="0" y="2596822"/>
            <a:ext cx="7904054" cy="68537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21761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Concept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217610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130" name="Google Shape;130;p4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4"/>
          <p:cNvSpPr txBox="1"/>
          <p:nvPr/>
        </p:nvSpPr>
        <p:spPr>
          <a:xfrm>
            <a:off x="217610" y="1677855"/>
            <a:ext cx="10002162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operating system executes a variety of programs: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Batch system – 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Time-shared systems – 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user programs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Textbook uses the terms </a:t>
            </a:r>
            <a:r>
              <a:rPr b="1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almost interchangeably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a program in execution; process execution must progress in sequential fashion</a:t>
            </a:r>
            <a:endParaRPr/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is </a:t>
            </a:r>
            <a:r>
              <a:rPr b="1" i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passive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entity stored on disk (</a:t>
            </a: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executable file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), process is </a:t>
            </a:r>
            <a:r>
              <a:rPr b="1" i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</a:t>
            </a:r>
            <a:endParaRPr/>
          </a:p>
          <a:p>
            <a:pPr indent="-342900" lvl="1" marL="800100" marR="0" rtl="0" algn="l"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becomes process when executable file loaded into memory</a:t>
            </a:r>
            <a:endParaRPr/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Execution of program started via GUI mouse clicks, command line entry of its name, etc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program can be several processes</a:t>
            </a:r>
            <a:endParaRPr/>
          </a:p>
          <a:p>
            <a:pPr indent="-342900" lvl="1" marL="800100" marR="0" rtl="0" algn="l"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 multiple users executing the same program</a:t>
            </a:r>
            <a:endParaRPr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1080" y="2607352"/>
            <a:ext cx="1666875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217611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Concept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2176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140" name="Google Shape;140;p5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5"/>
          <p:cNvSpPr txBox="1"/>
          <p:nvPr/>
        </p:nvSpPr>
        <p:spPr>
          <a:xfrm>
            <a:off x="217611" y="1731645"/>
            <a:ext cx="9485794" cy="5022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 of a process in memory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program code, also called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text section. </a:t>
            </a:r>
            <a:endParaRPr/>
          </a:p>
          <a:p>
            <a:pPr indent="-342900" lvl="2" marL="1257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Includes current activity including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program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counter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processor registers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containing temporary data</a:t>
            </a:r>
            <a:endParaRPr/>
          </a:p>
          <a:p>
            <a:pPr indent="-342900" lvl="2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parameters, return addresses, local variables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Data section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containing global variables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containing memory dynamically allocated during run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3830" lvl="1" marL="74295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307" y="2556047"/>
            <a:ext cx="1817810" cy="287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6217" y="328731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Memory Layout of a C Program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151" name="Google Shape;151;p6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856" y="1639615"/>
            <a:ext cx="7227888" cy="4792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161371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State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16137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160" name="Google Shape;160;p9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9"/>
          <p:cNvSpPr txBox="1"/>
          <p:nvPr/>
        </p:nvSpPr>
        <p:spPr>
          <a:xfrm>
            <a:off x="161370" y="1742403"/>
            <a:ext cx="6497613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a process executes, it changes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/>
          </a:p>
          <a:p>
            <a:pPr indent="-342900" lvl="1" marL="800100" marR="0" rtl="0" algn="l"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 The process is being created</a:t>
            </a:r>
            <a:endParaRPr/>
          </a:p>
          <a:p>
            <a:pPr indent="-342900" lvl="1" marL="800100" marR="0" rtl="0" algn="l"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 Instructions are being executed</a:t>
            </a:r>
            <a:endParaRPr/>
          </a:p>
          <a:p>
            <a:pPr indent="-342900" lvl="1" marL="800100" marR="0" rtl="0" algn="l"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Waiting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 The process is waiting for some event to occur</a:t>
            </a:r>
            <a:endParaRPr/>
          </a:p>
          <a:p>
            <a:pPr indent="-342900" lvl="1" marL="800100" marR="0" rtl="0" algn="l"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 The process is waiting to be assigned to a processor</a:t>
            </a:r>
            <a:endParaRPr/>
          </a:p>
          <a:p>
            <a:pPr indent="-342900" lvl="1" marL="800100" marR="0" rtl="0" algn="l"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Terminated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 The process has finished execution</a:t>
            </a:r>
            <a:endParaRPr/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7619" y="2558825"/>
            <a:ext cx="5334462" cy="2846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2679" y="621375"/>
            <a:ext cx="832546" cy="163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168346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Control Block (PCB)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168346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170" name="Google Shape;170;p10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399" y="1729004"/>
            <a:ext cx="7112000" cy="40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/>
          <p:nvPr/>
        </p:nvSpPr>
        <p:spPr>
          <a:xfrm>
            <a:off x="168346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Control Block (PCB)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168346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179" name="Google Shape;179;p11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1"/>
          <p:cNvSpPr txBox="1"/>
          <p:nvPr/>
        </p:nvSpPr>
        <p:spPr>
          <a:xfrm>
            <a:off x="168346" y="1667097"/>
            <a:ext cx="9642628" cy="4690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is represented in the operating system by a Process Control Block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(also called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task control block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state – running, waiting, etc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counter – location of instruction to next execute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CPU registers – contents of all process-centric registers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CPU scheduling information- priorities, scheduling queue pointers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Memory-management information – memory allocated to the process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Accounting information – CPU used, clock time elapsed since start, time limits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I/O status information – I/O devices allocated to process, list of open files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2425" y="3357719"/>
            <a:ext cx="1596721" cy="273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CPU switch from process to process</a:t>
            </a: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189" name="Google Shape;189;p12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11" y="1516485"/>
            <a:ext cx="7715385" cy="503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168346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Scheduling</a:t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168346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199" name="Google Shape;199;p13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0" name="Google Shape;200;p13"/>
          <p:cNvSpPr txBox="1"/>
          <p:nvPr/>
        </p:nvSpPr>
        <p:spPr>
          <a:xfrm>
            <a:off x="168346" y="1516485"/>
            <a:ext cx="10491173" cy="3822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Maximize CPU use, quickly switch processes onto CPU for time sharing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Process scheduler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selects among available processes for next execution on CPU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Maintains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scheduling queues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processes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Job queue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set of all processes in the system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Ready queue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set of all processes residing in main memory, ready and waiting to execute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Device queues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set of processes waiting for an I/O device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migrate among the various queues</a:t>
            </a:r>
            <a:endParaRPr/>
          </a:p>
        </p:txBody>
      </p:sp>
      <p:pic>
        <p:nvPicPr>
          <p:cNvPr id="201" name="Google Shape;2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Representation of Process Scheduling</a:t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08" name="Google Shape;208;p15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9" name="Google Shape;2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510" y="2144115"/>
            <a:ext cx="7588617" cy="4060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308" y="6627256"/>
            <a:ext cx="3005588" cy="280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/>
          <p:cNvSpPr/>
          <p:nvPr/>
        </p:nvSpPr>
        <p:spPr>
          <a:xfrm>
            <a:off x="168346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Schedulers</a:t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168346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18" name="Google Shape;218;p16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16"/>
          <p:cNvSpPr txBox="1"/>
          <p:nvPr/>
        </p:nvSpPr>
        <p:spPr>
          <a:xfrm>
            <a:off x="168345" y="1516485"/>
            <a:ext cx="10395663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Short-term scheduler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CPU scheduler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– selects which process should be executed next and allocates CPU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Sometimes the only scheduler in a system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Short-term scheduler is invoked frequently (milliseconds) ⇒ (must be fast)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Long-term scheduler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job scheduler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– selects which processes should be brought into the ready queue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Long-term scheduler is invoked  infrequently (seconds, minutes) ⇒ (may be slow)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long-term scheduler controls the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degree of multiprogramming</a:t>
            </a:r>
            <a:endParaRPr b="0" i="1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Schedulers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27" name="Google Shape;227;p17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17"/>
          <p:cNvSpPr txBox="1"/>
          <p:nvPr/>
        </p:nvSpPr>
        <p:spPr>
          <a:xfrm>
            <a:off x="168346" y="1516485"/>
            <a:ext cx="10277329" cy="38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can be described as either: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I/O-bound process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spends more time doing I/O than computations, many short CPU bursts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CPU-bound process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spends more time doing computations; few very long CPU bursts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Long-term scheduler strives for good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mix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Representation of Process Scheduling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36" name="Google Shape;236;p18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7" name="Google Shape;237;p18"/>
          <p:cNvSpPr txBox="1"/>
          <p:nvPr/>
        </p:nvSpPr>
        <p:spPr>
          <a:xfrm>
            <a:off x="589415" y="1578294"/>
            <a:ext cx="9651865" cy="1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Medium-term scheduler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added if degree of multiple programming needs to decrease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Remove process from memory, store on disk, bring back in from disk to continue execution: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swapping</a:t>
            </a:r>
            <a:endParaRPr/>
          </a:p>
        </p:txBody>
      </p:sp>
      <p:pic>
        <p:nvPicPr>
          <p:cNvPr id="238" name="Google Shape;2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932" y="3539058"/>
            <a:ext cx="7327900" cy="2665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308" y="6595821"/>
            <a:ext cx="3005588" cy="280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/>
          <p:nvPr/>
        </p:nvSpPr>
        <p:spPr>
          <a:xfrm>
            <a:off x="168346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Context Switch</a:t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168346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47" name="Google Shape;247;p19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19"/>
          <p:cNvSpPr txBox="1"/>
          <p:nvPr/>
        </p:nvSpPr>
        <p:spPr>
          <a:xfrm>
            <a:off x="168345" y="1688613"/>
            <a:ext cx="11424771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CPU switches to another process, the system must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save the state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old process and load the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saved state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the new process via a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context switch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Context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a process represented in the PCB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Context-switch time is overhead; the system does no useful work while switching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more complex the OS and the PCB 🡺 the longer the context switch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dependent on hardware support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hardware provides multiple sets of registers per CPU 🡺 multiple contexts loaded at once</a:t>
            </a:r>
            <a:endParaRPr/>
          </a:p>
        </p:txBody>
      </p:sp>
      <p:pic>
        <p:nvPicPr>
          <p:cNvPr id="249" name="Google Shape;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065" y="621375"/>
            <a:ext cx="641160" cy="1164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/>
          <p:nvPr/>
        </p:nvSpPr>
        <p:spPr>
          <a:xfrm>
            <a:off x="168346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Operations on Processes</a:t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168346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56" name="Google Shape;256;p20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20"/>
          <p:cNvSpPr txBox="1"/>
          <p:nvPr/>
        </p:nvSpPr>
        <p:spPr>
          <a:xfrm>
            <a:off x="168346" y="1516485"/>
            <a:ext cx="8300053" cy="1458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must provide mechanisms for: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 creation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 termination</a:t>
            </a:r>
            <a:endParaRPr/>
          </a:p>
        </p:txBody>
      </p:sp>
      <p:pic>
        <p:nvPicPr>
          <p:cNvPr id="258" name="Google Shape;2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168346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Creation</a:t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168346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65" name="Google Shape;265;p21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6" name="Google Shape;266;p21"/>
          <p:cNvSpPr txBox="1"/>
          <p:nvPr/>
        </p:nvSpPr>
        <p:spPr>
          <a:xfrm>
            <a:off x="168346" y="1516485"/>
            <a:ext cx="8300053" cy="518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creates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children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processes, which, in turn create other processes, forming a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processes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Generally, process identified and managed via a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process identifier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sharing options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 and children share all resources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Children share subset of parent’s resources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 and child share no resources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Execution options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 and children execute concurrently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 waits until children terminate</a:t>
            </a:r>
            <a:endParaRPr/>
          </a:p>
        </p:txBody>
      </p:sp>
      <p:pic>
        <p:nvPicPr>
          <p:cNvPr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484" y="2998470"/>
            <a:ext cx="5590516" cy="291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5620" y="6313886"/>
            <a:ext cx="3005138" cy="2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creation using fork()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361370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76" name="Google Shape;276;p22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p22"/>
          <p:cNvSpPr txBox="1"/>
          <p:nvPr/>
        </p:nvSpPr>
        <p:spPr>
          <a:xfrm>
            <a:off x="361370" y="1449099"/>
            <a:ext cx="7771713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 space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Child duplicate of parent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Child has a program loaded into it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UNIX examples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fork()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system call creates new process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exec()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system call used after a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fork()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replace the process’ memory space with a new program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" id="278" name="Google Shape;2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324" y="4905726"/>
            <a:ext cx="6419850" cy="16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 Program forking Separate Process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86" name="Google Shape;286;p23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Screen Shot 2012-12-04 at 11.21.10 AM.png" id="287" name="Google Shape;2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048" y="1516486"/>
            <a:ext cx="7839695" cy="5210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/>
          <p:nvPr/>
        </p:nvSpPr>
        <p:spPr>
          <a:xfrm>
            <a:off x="168345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Termination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168345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295" name="Google Shape;295;p24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6" name="Google Shape;296;p24"/>
          <p:cNvSpPr txBox="1"/>
          <p:nvPr/>
        </p:nvSpPr>
        <p:spPr>
          <a:xfrm>
            <a:off x="168345" y="1753161"/>
            <a:ext cx="11815673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executes last statement and then asks the operating system to delete it using the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exit()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system call.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Returns  status data from child to parent (via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wait()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Process’ resources are deallocated by operating system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 may terminate the execution of children processes  using the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abort()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system call.  Some reasons for doing so: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Child has exceeded allocated resources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Task assigned to child is no longer required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parent is exiting and the operating systems does not allow  a child to continue if its parent terminates</a:t>
            </a:r>
            <a:endParaRPr/>
          </a:p>
        </p:txBody>
      </p:sp>
      <p:pic>
        <p:nvPicPr>
          <p:cNvPr id="297" name="Google Shape;2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0901" y="361521"/>
            <a:ext cx="839973" cy="1391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/>
          <p:nvPr/>
        </p:nvSpPr>
        <p:spPr>
          <a:xfrm>
            <a:off x="168346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Process Termination</a:t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168346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</p:txBody>
      </p:sp>
      <p:cxnSp>
        <p:nvCxnSpPr>
          <p:cNvPr id="305" name="Google Shape;305;p25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25"/>
          <p:cNvSpPr txBox="1"/>
          <p:nvPr/>
        </p:nvSpPr>
        <p:spPr>
          <a:xfrm>
            <a:off x="168346" y="1516485"/>
            <a:ext cx="10384906" cy="4845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operating systems do not allow child to exist if its parent has terminated.  If a process terminates, then all its children must also be terminated.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cascading termination.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children, grandchildren, etc.  are  terminated.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termination is initiated by the operating system.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parent process may wait for termination of a child process by using the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wait()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call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call returns status information and the pid of the terminated process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pid = wait(&amp;status);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no parent waiting (did not invoke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wait()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process is a 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zombie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parent terminated without invoking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wait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, process is an 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orphan</a:t>
            </a:r>
            <a:endParaRPr/>
          </a:p>
        </p:txBody>
      </p:sp>
      <p:pic>
        <p:nvPicPr>
          <p:cNvPr id="307" name="Google Shape;3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2" name="Google Shape;312;p27"/>
          <p:cNvCxnSpPr/>
          <p:nvPr/>
        </p:nvCxnSpPr>
        <p:spPr>
          <a:xfrm flipH="1" rot="10800000">
            <a:off x="5448168" y="2887307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3" name="Google Shape;313;p27"/>
          <p:cNvSpPr/>
          <p:nvPr/>
        </p:nvSpPr>
        <p:spPr>
          <a:xfrm>
            <a:off x="5460537" y="404973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pavanac@pes.edu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" name="Google Shape;314;p27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315" name="Google Shape;315;p27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7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7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7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27"/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Pavan A C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448168" y="3525847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2250" y="1291160"/>
            <a:ext cx="1939817" cy="3674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2020-06-03T14:19:11Z</dcterms:created>
  <dc:creator>Krishna Venkataram</dc:creator>
</cp:coreProperties>
</file>